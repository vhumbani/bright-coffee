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25" r:id="rId7"/>
    <p:sldId id="257" r:id="rId8"/>
    <p:sldId id="258" r:id="rId9"/>
    <p:sldId id="259" r:id="rId10"/>
    <p:sldId id="260" r:id="rId11"/>
    <p:sldId id="315" r:id="rId12"/>
    <p:sldId id="282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4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6600" dirty="0">
                <a:solidFill>
                  <a:srgbClr val="DF8C8C"/>
                </a:solidFill>
                <a:latin typeface="Bell MT" panose="02020503060305020303" pitchFamily="18" charset="0"/>
              </a:rPr>
              <a:t>BRIGHT </a:t>
            </a:r>
            <a:br>
              <a:rPr lang="en-US" sz="6600" dirty="0">
                <a:solidFill>
                  <a:srgbClr val="DF8C8C"/>
                </a:solidFill>
                <a:latin typeface="Bell MT" panose="02020503060305020303" pitchFamily="18" charset="0"/>
              </a:rPr>
            </a:br>
            <a:r>
              <a:rPr lang="en-US" sz="6600" dirty="0">
                <a:solidFill>
                  <a:srgbClr val="DF8C8C"/>
                </a:solidFill>
                <a:latin typeface="Bell MT" panose="02020503060305020303" pitchFamily="18" charset="0"/>
              </a:rPr>
              <a:t>Coffee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>
                <a:solidFill>
                  <a:srgbClr val="DF8C8C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Project Context</a:t>
            </a:r>
          </a:p>
          <a:p>
            <a:r>
              <a:rPr lang="en-US" dirty="0">
                <a:solidFill>
                  <a:srgbClr val="FFC000"/>
                </a:solidFill>
              </a:rPr>
              <a:t>Usage Trends</a:t>
            </a:r>
          </a:p>
          <a:p>
            <a:r>
              <a:rPr lang="en-US" dirty="0">
                <a:solidFill>
                  <a:srgbClr val="FFC000"/>
                </a:solidFill>
              </a:rPr>
              <a:t>Analysis</a:t>
            </a:r>
          </a:p>
          <a:p>
            <a:r>
              <a:rPr lang="en-US" dirty="0">
                <a:solidFill>
                  <a:srgbClr val="FFC000"/>
                </a:solidFill>
              </a:rPr>
              <a:t>Recommendation</a:t>
            </a:r>
          </a:p>
          <a:p>
            <a:r>
              <a:rPr lang="en-US" dirty="0">
                <a:solidFill>
                  <a:srgbClr val="FFC000"/>
                </a:solidFill>
              </a:rPr>
              <a:t>Closing Remarks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0119-62E2-9D66-B99B-7F310AB8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748D60-C6C4-7E0A-D881-BF96A5D85FD8}"/>
              </a:ext>
            </a:extLst>
          </p:cNvPr>
          <p:cNvSpPr/>
          <p:nvPr/>
        </p:nvSpPr>
        <p:spPr>
          <a:xfrm>
            <a:off x="685800" y="1021704"/>
            <a:ext cx="10551086" cy="4463202"/>
          </a:xfrm>
          <a:custGeom>
            <a:avLst/>
            <a:gdLst/>
            <a:ahLst/>
            <a:cxnLst/>
            <a:rect l="l" t="t" r="r" b="b"/>
            <a:pathLst>
              <a:path w="15826629" h="6694803">
                <a:moveTo>
                  <a:pt x="0" y="0"/>
                </a:moveTo>
                <a:lnTo>
                  <a:pt x="15826629" y="0"/>
                </a:lnTo>
                <a:lnTo>
                  <a:pt x="15826629" y="6694803"/>
                </a:lnTo>
                <a:lnTo>
                  <a:pt x="0" y="669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" t="-17727" r="-1840" b="-13721"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DAABEE-A16C-0787-6814-1D62DE60DDD6}"/>
              </a:ext>
            </a:extLst>
          </p:cNvPr>
          <p:cNvGrpSpPr/>
          <p:nvPr/>
        </p:nvGrpSpPr>
        <p:grpSpPr>
          <a:xfrm>
            <a:off x="2290899" y="336401"/>
            <a:ext cx="2505635" cy="413373"/>
            <a:chOff x="0" y="0"/>
            <a:chExt cx="989881" cy="16330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D6B1F6-D52D-4EBD-222B-FEFCF994163E}"/>
                </a:ext>
              </a:extLst>
            </p:cNvPr>
            <p:cNvSpPr/>
            <p:nvPr/>
          </p:nvSpPr>
          <p:spPr>
            <a:xfrm>
              <a:off x="0" y="0"/>
              <a:ext cx="989881" cy="163308"/>
            </a:xfrm>
            <a:custGeom>
              <a:avLst/>
              <a:gdLst/>
              <a:ahLst/>
              <a:cxnLst/>
              <a:rect l="l" t="t" r="r" b="b"/>
              <a:pathLst>
                <a:path w="989881" h="163308">
                  <a:moveTo>
                    <a:pt x="0" y="0"/>
                  </a:moveTo>
                  <a:lnTo>
                    <a:pt x="989881" y="0"/>
                  </a:lnTo>
                  <a:lnTo>
                    <a:pt x="989881" y="163308"/>
                  </a:lnTo>
                  <a:lnTo>
                    <a:pt x="0" y="163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1DFB17-7A0C-0A44-951E-DFFD454C723C}"/>
                </a:ext>
              </a:extLst>
            </p:cNvPr>
            <p:cNvSpPr txBox="1"/>
            <p:nvPr/>
          </p:nvSpPr>
          <p:spPr>
            <a:xfrm>
              <a:off x="0" y="-47625"/>
              <a:ext cx="989881" cy="2109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Analysis By Store Location</a:t>
              </a: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F0BC6B1-E271-4519-C2BF-E6E54C337222}"/>
              </a:ext>
            </a:extLst>
          </p:cNvPr>
          <p:cNvSpPr txBox="1"/>
          <p:nvPr/>
        </p:nvSpPr>
        <p:spPr>
          <a:xfrm>
            <a:off x="179294" y="5453156"/>
            <a:ext cx="6036421" cy="2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Hell Kitchen recorded the highest revenue among the three stores.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54B5609-481D-DB80-8A3B-D1AAD7388960}"/>
              </a:ext>
            </a:extLst>
          </p:cNvPr>
          <p:cNvSpPr txBox="1"/>
          <p:nvPr/>
        </p:nvSpPr>
        <p:spPr>
          <a:xfrm>
            <a:off x="685801" y="263836"/>
            <a:ext cx="212803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3262" spc="-32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REVENUE|</a:t>
            </a:r>
          </a:p>
        </p:txBody>
      </p:sp>
    </p:spTree>
    <p:extLst>
      <p:ext uri="{BB962C8B-B14F-4D97-AF65-F5344CB8AC3E}">
        <p14:creationId xmlns:p14="http://schemas.microsoft.com/office/powerpoint/2010/main" val="349340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8914" y="336401"/>
            <a:ext cx="3073400" cy="413373"/>
            <a:chOff x="0" y="0"/>
            <a:chExt cx="1214183" cy="1633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4183" cy="163308"/>
            </a:xfrm>
            <a:custGeom>
              <a:avLst/>
              <a:gdLst/>
              <a:ahLst/>
              <a:cxnLst/>
              <a:rect l="l" t="t" r="r" b="b"/>
              <a:pathLst>
                <a:path w="1214183" h="163308">
                  <a:moveTo>
                    <a:pt x="0" y="0"/>
                  </a:moveTo>
                  <a:lnTo>
                    <a:pt x="1214183" y="0"/>
                  </a:lnTo>
                  <a:lnTo>
                    <a:pt x="1214183" y="163308"/>
                  </a:lnTo>
                  <a:lnTo>
                    <a:pt x="0" y="163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14183" cy="2109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Weekly Analysis By Store Location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24444" y="968732"/>
            <a:ext cx="10387937" cy="4307949"/>
          </a:xfrm>
          <a:custGeom>
            <a:avLst/>
            <a:gdLst/>
            <a:ahLst/>
            <a:cxnLst/>
            <a:rect l="l" t="t" r="r" b="b"/>
            <a:pathLst>
              <a:path w="15581906" h="6461923">
                <a:moveTo>
                  <a:pt x="0" y="0"/>
                </a:moveTo>
                <a:lnTo>
                  <a:pt x="15581906" y="0"/>
                </a:lnTo>
                <a:lnTo>
                  <a:pt x="15581906" y="6461923"/>
                </a:lnTo>
                <a:lnTo>
                  <a:pt x="0" y="6461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0" b="-9879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650773" y="5460830"/>
            <a:ext cx="10661608" cy="2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Hell Kitchen performed better on weekdays , followed by Astoria then Manhattan. Poor performance was recorded over the weekend 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1" y="263836"/>
            <a:ext cx="212803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3262" spc="-32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REVENUE|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2428" y="336401"/>
            <a:ext cx="2505635" cy="413373"/>
            <a:chOff x="0" y="0"/>
            <a:chExt cx="989881" cy="1633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9881" cy="163308"/>
            </a:xfrm>
            <a:custGeom>
              <a:avLst/>
              <a:gdLst/>
              <a:ahLst/>
              <a:cxnLst/>
              <a:rect l="l" t="t" r="r" b="b"/>
              <a:pathLst>
                <a:path w="989881" h="163308">
                  <a:moveTo>
                    <a:pt x="0" y="0"/>
                  </a:moveTo>
                  <a:lnTo>
                    <a:pt x="989881" y="0"/>
                  </a:lnTo>
                  <a:lnTo>
                    <a:pt x="989881" y="163308"/>
                  </a:lnTo>
                  <a:lnTo>
                    <a:pt x="0" y="163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9881" cy="2109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Analysis By Month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333558"/>
            <a:ext cx="10404533" cy="4523074"/>
          </a:xfrm>
          <a:custGeom>
            <a:avLst/>
            <a:gdLst/>
            <a:ahLst/>
            <a:cxnLst/>
            <a:rect l="l" t="t" r="r" b="b"/>
            <a:pathLst>
              <a:path w="15606799" h="6784611">
                <a:moveTo>
                  <a:pt x="0" y="0"/>
                </a:moveTo>
                <a:lnTo>
                  <a:pt x="15606799" y="0"/>
                </a:lnTo>
                <a:lnTo>
                  <a:pt x="15606799" y="6784611"/>
                </a:lnTo>
                <a:lnTo>
                  <a:pt x="0" y="6784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20" b="-11335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343648" y="5824882"/>
            <a:ext cx="9024657" cy="2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June and May recorded the highest revenue reason people consume coffee more in winter.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2" y="263836"/>
            <a:ext cx="1785256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3262" spc="-32" dirty="0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REVENUE|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1957" y="296944"/>
            <a:ext cx="2505635" cy="413373"/>
            <a:chOff x="0" y="0"/>
            <a:chExt cx="989881" cy="1633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9881" cy="163308"/>
            </a:xfrm>
            <a:custGeom>
              <a:avLst/>
              <a:gdLst/>
              <a:ahLst/>
              <a:cxnLst/>
              <a:rect l="l" t="t" r="r" b="b"/>
              <a:pathLst>
                <a:path w="989881" h="163308">
                  <a:moveTo>
                    <a:pt x="0" y="0"/>
                  </a:moveTo>
                  <a:lnTo>
                    <a:pt x="989881" y="0"/>
                  </a:lnTo>
                  <a:lnTo>
                    <a:pt x="989881" y="163308"/>
                  </a:lnTo>
                  <a:lnTo>
                    <a:pt x="0" y="163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9881" cy="2109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Analysis By Products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85800" y="1300875"/>
            <a:ext cx="10312816" cy="4664331"/>
          </a:xfrm>
          <a:custGeom>
            <a:avLst/>
            <a:gdLst/>
            <a:ahLst/>
            <a:cxnLst/>
            <a:rect l="l" t="t" r="r" b="b"/>
            <a:pathLst>
              <a:path w="15469224" h="6996496">
                <a:moveTo>
                  <a:pt x="0" y="0"/>
                </a:moveTo>
                <a:lnTo>
                  <a:pt x="15469224" y="0"/>
                </a:lnTo>
                <a:lnTo>
                  <a:pt x="15469224" y="6996495"/>
                </a:lnTo>
                <a:lnTo>
                  <a:pt x="0" y="699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0" t="-9721" b="-991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209177" y="6004177"/>
            <a:ext cx="8890186" cy="497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Coffee is our best performing product, followed by tea then Bakery. Packed Chocolate is the least among all the products.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1" y="263836"/>
            <a:ext cx="212803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3262" spc="-32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REVENUE|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1252" y="336401"/>
            <a:ext cx="2505635" cy="413373"/>
            <a:chOff x="0" y="0"/>
            <a:chExt cx="989881" cy="1633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9881" cy="163308"/>
            </a:xfrm>
            <a:custGeom>
              <a:avLst/>
              <a:gdLst/>
              <a:ahLst/>
              <a:cxnLst/>
              <a:rect l="l" t="t" r="r" b="b"/>
              <a:pathLst>
                <a:path w="989881" h="163308">
                  <a:moveTo>
                    <a:pt x="0" y="0"/>
                  </a:moveTo>
                  <a:lnTo>
                    <a:pt x="989881" y="0"/>
                  </a:lnTo>
                  <a:lnTo>
                    <a:pt x="989881" y="163308"/>
                  </a:lnTo>
                  <a:lnTo>
                    <a:pt x="0" y="1633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89881" cy="2109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Analysis By Store Location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55806" y="1206098"/>
            <a:ext cx="9166625" cy="4535451"/>
          </a:xfrm>
          <a:custGeom>
            <a:avLst/>
            <a:gdLst/>
            <a:ahLst/>
            <a:cxnLst/>
            <a:rect l="l" t="t" r="r" b="b"/>
            <a:pathLst>
              <a:path w="13749937" h="6803176">
                <a:moveTo>
                  <a:pt x="0" y="0"/>
                </a:moveTo>
                <a:lnTo>
                  <a:pt x="13749937" y="0"/>
                </a:lnTo>
                <a:lnTo>
                  <a:pt x="13749937" y="6803176"/>
                </a:lnTo>
                <a:lnTo>
                  <a:pt x="0" y="6803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518" b="-896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TextBox 6"/>
          <p:cNvSpPr txBox="1"/>
          <p:nvPr/>
        </p:nvSpPr>
        <p:spPr>
          <a:xfrm>
            <a:off x="-2151529" y="6031877"/>
            <a:ext cx="9024657" cy="2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4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Hell kitchen recorded the highest sales among the stores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271" y="303294"/>
            <a:ext cx="2128039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4"/>
              </a:lnSpc>
              <a:spcBef>
                <a:spcPct val="0"/>
              </a:spcBef>
            </a:pPr>
            <a:r>
              <a:rPr lang="en-US" sz="3262" spc="-32">
                <a:solidFill>
                  <a:srgbClr val="000000"/>
                </a:solidFill>
                <a:latin typeface="Alta"/>
                <a:ea typeface="Alta"/>
                <a:cs typeface="Alta"/>
                <a:sym typeface="Alta"/>
              </a:rPr>
              <a:t>SALES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u="sng" dirty="0"/>
              <a:t>recommendation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399" y="2143432"/>
            <a:ext cx="7905136" cy="4463845"/>
          </a:xfrm>
        </p:spPr>
        <p:txBody>
          <a:bodyPr>
            <a:normAutofit/>
          </a:bodyPr>
          <a:lstStyle/>
          <a:p>
            <a:r>
              <a:rPr lang="en-ZA" u="sng" dirty="0">
                <a:solidFill>
                  <a:srgbClr val="FF0000"/>
                </a:solidFill>
              </a:rPr>
              <a:t>How to increase revenue growth</a:t>
            </a:r>
          </a:p>
          <a:p>
            <a:r>
              <a:rPr lang="en-ZA" u="sng" dirty="0">
                <a:solidFill>
                  <a:schemeClr val="tx1"/>
                </a:solidFill>
              </a:rPr>
              <a:t>.</a:t>
            </a:r>
            <a:r>
              <a:rPr lang="en-ZA" dirty="0">
                <a:solidFill>
                  <a:schemeClr val="tx1"/>
                </a:solidFill>
              </a:rPr>
              <a:t>Daily targets must be increased and new strategies must be piloted.</a:t>
            </a:r>
          </a:p>
          <a:p>
            <a:r>
              <a:rPr lang="en-ZA" dirty="0">
                <a:solidFill>
                  <a:schemeClr val="tx1"/>
                </a:solidFill>
              </a:rPr>
              <a:t>.Implementing automated daily reporting will sustain data-driven decision making.</a:t>
            </a:r>
          </a:p>
          <a:p>
            <a:r>
              <a:rPr lang="en-ZA" dirty="0">
                <a:solidFill>
                  <a:schemeClr val="tx1"/>
                </a:solidFill>
              </a:rPr>
              <a:t>.Company must implement rewards system to reward highly performing employees</a:t>
            </a:r>
          </a:p>
          <a:p>
            <a:r>
              <a:rPr lang="en-ZA" dirty="0">
                <a:solidFill>
                  <a:schemeClr val="tx1"/>
                </a:solidFill>
              </a:rPr>
              <a:t>.Digital system must be implemented to introduce discounts to constant clients.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u="sng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890685"/>
            <a:ext cx="7965460" cy="2910042"/>
          </a:xfrm>
        </p:spPr>
        <p:txBody>
          <a:bodyPr/>
          <a:lstStyle/>
          <a:p>
            <a:r>
              <a:rPr lang="en-US" dirty="0"/>
              <a:t>Bright Coffee performed higher  by 10.5% compared to the previous year.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3201108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{DA0501C0-9A4D-49B8-86B9-D370FF630E3C}tf78438558_win32</Template>
  <TotalTime>51</TotalTime>
  <Words>192</Words>
  <Application>Microsoft Office PowerPoint</Application>
  <PresentationFormat>Widescreen</PresentationFormat>
  <Paragraphs>33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Alta</vt:lpstr>
      <vt:lpstr>Arial</vt:lpstr>
      <vt:lpstr>Arial Black</vt:lpstr>
      <vt:lpstr>Bell MT</vt:lpstr>
      <vt:lpstr>Calibri</vt:lpstr>
      <vt:lpstr>Glacial Indifference</vt:lpstr>
      <vt:lpstr>Sabon Next LT</vt:lpstr>
      <vt:lpstr>Custom</vt:lpstr>
      <vt:lpstr>BRIGHT  Coffee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</vt:lpstr>
      <vt:lpstr>Remarks</vt:lpstr>
      <vt:lpstr>Thank  you</vt:lpstr>
    </vt:vector>
  </TitlesOfParts>
  <Company>SARS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Faith Vhumbani</dc:creator>
  <cp:lastModifiedBy>Faith T</cp:lastModifiedBy>
  <cp:revision>2</cp:revision>
  <dcterms:created xsi:type="dcterms:W3CDTF">2025-12-31T12:39:13Z</dcterms:created>
  <dcterms:modified xsi:type="dcterms:W3CDTF">2025-12-31T13:57:10Z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